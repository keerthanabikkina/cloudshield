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73" r:id="rId9"/>
    <p:sldId id="263" r:id="rId10"/>
    <p:sldId id="264" r:id="rId11"/>
    <p:sldId id="265" r:id="rId12"/>
    <p:sldId id="266" r:id="rId13"/>
    <p:sldId id="267" r:id="rId14"/>
    <p:sldId id="268" r:id="rId15"/>
    <p:sldId id="271" r:id="rId16"/>
    <p:sldId id="272" r:id="rId17"/>
    <p:sldId id="26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91" d="100"/>
          <a:sy n="91" d="100"/>
        </p:scale>
        <p:origin x="341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  <a:endParaRPr lang="en-US" dirty="0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  <a:endParaRPr lang="en-US"/>
          </a:p>
          <a:p>
            <a:pPr marL="228600" lvl="1" indent="-228600"/>
            <a:r>
              <a:rPr lang="en-US"/>
              <a:t>Second level</a:t>
            </a:r>
            <a:endParaRPr lang="en-US"/>
          </a:p>
          <a:p>
            <a:pPr marL="228600" lvl="2" indent="-228600"/>
            <a:r>
              <a:rPr lang="en-US"/>
              <a:t>Third level</a:t>
            </a:r>
            <a:endParaRPr lang="en-US"/>
          </a:p>
          <a:p>
            <a:pPr marL="228600" lvl="3" indent="-228600"/>
            <a:r>
              <a:rPr lang="en-US"/>
              <a:t>Fourth level</a:t>
            </a:r>
            <a:endParaRPr lang="en-US"/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465" indent="-164465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3"/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8" Type="http://schemas.openxmlformats.org/officeDocument/2006/relationships/theme" Target="../theme/theme1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5.xml"/><Relationship Id="rId1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image" Target="../media/image17.jpeg"/><Relationship Id="rId1" Type="http://schemas.openxmlformats.org/officeDocument/2006/relationships/image" Target="../media/image16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image" Target="../media/image19.jpeg"/><Relationship Id="rId1" Type="http://schemas.openxmlformats.org/officeDocument/2006/relationships/image" Target="../media/image18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943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5F8FC"/>
                </a:solidFill>
                <a:latin typeface="Aptos Display"/>
              </a:defRPr>
            </a:pPr>
            <a:r>
              <a:rPr dirty="0"/>
              <a:t>Amazon Inspector</a:t>
            </a:r>
            <a:endParaRPr dirty="0"/>
          </a:p>
          <a:p>
            <a:pPr>
              <a:defRPr sz="2700" b="1">
                <a:solidFill>
                  <a:srgbClr val="25BEDC"/>
                </a:solidFill>
                <a:latin typeface="Aptos Display"/>
              </a:defRPr>
            </a:pPr>
            <a:r>
              <a:rPr dirty="0"/>
              <a:t>Vulnerability Scanning for EC2 &amp; ECR</a:t>
            </a:r>
            <a:endParaRPr dirty="0"/>
          </a:p>
          <a:p>
            <a:pPr>
              <a:defRPr sz="1600">
                <a:solidFill>
                  <a:srgbClr val="B2C1D2"/>
                </a:solidFill>
                <a:latin typeface="Aptos"/>
              </a:defRPr>
            </a:pPr>
            <a:r>
              <a:rPr dirty="0"/>
              <a:t>Cloud Security Project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749808" y="3566160"/>
            <a:ext cx="2057400" cy="384048"/>
          </a:xfrm>
          <a:prstGeom prst="round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91626"/>
                </a:solidFill>
                <a:latin typeface="Aptos"/>
              </a:defRPr>
            </a:pPr>
            <a:r>
              <a:t>DETECT • FIX • VERIFY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4160520"/>
            <a:ext cx="5577840" cy="164592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4160520"/>
            <a:ext cx="54864" cy="1645920"/>
          </a:xfrm>
          <a:prstGeom prst="rect">
            <a:avLst/>
          </a:prstGeom>
          <a:solidFill>
            <a:srgbClr val="3A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4297680"/>
            <a:ext cx="5212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C"/>
                </a:solidFill>
                <a:latin typeface="Aptos"/>
              </a:defRPr>
            </a:pPr>
            <a:r>
              <a:t>PROJECT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4727448"/>
            <a:ext cx="2401619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2C1D2"/>
                </a:solidFill>
                <a:latin typeface="Aptos"/>
              </a:defRPr>
            </a:pPr>
            <a:r>
              <a:rPr lang="en-US" dirty="0"/>
              <a:t>2400031870 – K. Thanu Sree</a:t>
            </a:r>
            <a:endParaRPr lang="en-US" dirty="0"/>
          </a:p>
          <a:p>
            <a:pPr>
              <a:defRPr sz="1200">
                <a:solidFill>
                  <a:srgbClr val="B2C1D2"/>
                </a:solidFill>
                <a:latin typeface="Aptos"/>
              </a:defRPr>
            </a:pPr>
            <a:r>
              <a:rPr dirty="0"/>
              <a:t>2400031880 – Nanduri Vaibhavi</a:t>
            </a:r>
            <a:br>
              <a:rPr dirty="0"/>
            </a:br>
            <a:r>
              <a:rPr dirty="0"/>
              <a:t>2400031895 – </a:t>
            </a:r>
            <a:r>
              <a:rPr dirty="0" err="1"/>
              <a:t>Bikkina</a:t>
            </a:r>
            <a:r>
              <a:rPr dirty="0"/>
              <a:t> Keerthana</a:t>
            </a:r>
            <a:br>
              <a:rPr dirty="0"/>
            </a:br>
            <a:r>
              <a:rPr dirty="0"/>
              <a:t>2400031</a:t>
            </a:r>
            <a:r>
              <a:rPr lang="en-US" dirty="0"/>
              <a:t>898 – Karthik Katuri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What is the Project?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0700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2C1D2"/>
                </a:solidFill>
                <a:latin typeface="Aptos"/>
              </a:defRPr>
            </a:pPr>
            <a:r>
              <a:t>Automated vulnerability detection for AWS workloads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337560" cy="256032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54864" cy="2560320"/>
          </a:xfrm>
          <a:prstGeom prst="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65960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8FC"/>
                </a:solidFill>
                <a:latin typeface="Aptos"/>
              </a:defRPr>
            </a:pPr>
            <a:r>
              <a:t>01  DETECT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95728"/>
            <a:ext cx="3030766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2C1D2"/>
                </a:solidFill>
                <a:latin typeface="Aptos"/>
              </a:defRPr>
            </a:pPr>
            <a:r>
              <a:rPr dirty="0"/>
              <a:t>Find known security vulnerabilities</a:t>
            </a:r>
            <a:br>
              <a:rPr lang="en-US" dirty="0"/>
            </a:br>
            <a:r>
              <a:rPr dirty="0"/>
              <a:t> in AWS resources.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4407408" y="1828800"/>
            <a:ext cx="3337560" cy="256032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1828800"/>
            <a:ext cx="54864" cy="2560320"/>
          </a:xfrm>
          <a:prstGeom prst="rect">
            <a:avLst/>
          </a:prstGeom>
          <a:solidFill>
            <a:srgbClr val="42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1965960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8FC"/>
                </a:solidFill>
                <a:latin typeface="Aptos"/>
              </a:defRPr>
            </a:pPr>
            <a:r>
              <a:t>02  REMEDIATE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395728"/>
            <a:ext cx="296658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2C1D2"/>
                </a:solidFill>
                <a:latin typeface="Aptos"/>
              </a:defRPr>
            </a:pPr>
            <a:r>
              <a:rPr dirty="0"/>
              <a:t>Identify the affected package and </a:t>
            </a:r>
            <a:br>
              <a:rPr lang="en-US" dirty="0"/>
            </a:br>
            <a:r>
              <a:rPr dirty="0"/>
              <a:t>apply the recommended fix.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8129016" y="1828800"/>
            <a:ext cx="3337560" cy="256032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9016" y="1828800"/>
            <a:ext cx="54864" cy="2560320"/>
          </a:xfrm>
          <a:prstGeom prst="rect">
            <a:avLst/>
          </a:prstGeom>
          <a:solidFill>
            <a:srgbClr val="8B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4" y="1965960"/>
            <a:ext cx="2971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8FC"/>
                </a:solidFill>
                <a:latin typeface="Aptos"/>
              </a:defRPr>
            </a:pPr>
            <a:r>
              <a:t>03  VERIFY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4" y="2395728"/>
            <a:ext cx="3084114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2C1D2"/>
                </a:solidFill>
                <a:latin typeface="Aptos"/>
              </a:defRPr>
            </a:pPr>
            <a:r>
              <a:rPr dirty="0"/>
              <a:t>Run another scan and compare the</a:t>
            </a:r>
            <a:br>
              <a:rPr lang="en-US" dirty="0"/>
            </a:br>
            <a:r>
              <a:rPr dirty="0"/>
              <a:t> result after the fix.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EC2 &amp; ECR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0700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2C1D2"/>
                </a:solidFill>
                <a:latin typeface="Aptos"/>
              </a:defRPr>
            </a:pPr>
            <a:r>
              <a:t>Two resource types covered by the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338328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54864" cy="3383280"/>
          </a:xfrm>
          <a:prstGeom prst="rect">
            <a:avLst/>
          </a:prstGeom>
          <a:solidFill>
            <a:srgbClr val="3A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874519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F8FC"/>
                </a:solidFill>
                <a:latin typeface="Aptos"/>
              </a:defRPr>
            </a:pPr>
            <a:r>
              <a:t>EC2  |  Elastic Compute Cloud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04288"/>
            <a:ext cx="5171352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2C1D2"/>
                </a:solidFill>
                <a:latin typeface="Aptos"/>
              </a:defRPr>
            </a:pPr>
            <a:r>
              <a:rPr dirty="0"/>
              <a:t>A virtual computer / server running in AWS.</a:t>
            </a:r>
            <a:br>
              <a:rPr dirty="0"/>
            </a:br>
            <a:br>
              <a:rPr dirty="0"/>
            </a:br>
            <a:r>
              <a:rPr dirty="0"/>
              <a:t>The server contains an operating system, applications and </a:t>
            </a:r>
            <a:br>
              <a:rPr lang="en-US" dirty="0"/>
            </a:br>
            <a:r>
              <a:rPr dirty="0"/>
              <a:t>software packages that may become outdated or vulnerable.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6263640" y="1737360"/>
            <a:ext cx="5212080" cy="338328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737360"/>
            <a:ext cx="54864" cy="3383280"/>
          </a:xfrm>
          <a:prstGeom prst="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7" y="1874519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5F8FC"/>
                </a:solidFill>
                <a:latin typeface="Aptos"/>
              </a:defRPr>
            </a:pPr>
            <a:r>
              <a:t>ECR  |  Elastic Container Registry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7" y="2304288"/>
            <a:ext cx="4741298" cy="12464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B2C1D2"/>
                </a:solidFill>
                <a:latin typeface="Aptos"/>
              </a:defRPr>
            </a:pPr>
            <a:r>
              <a:rPr dirty="0"/>
              <a:t>An AWS service used to store Docker container images.</a:t>
            </a:r>
            <a:br>
              <a:rPr dirty="0"/>
            </a:br>
            <a:br>
              <a:rPr dirty="0"/>
            </a:br>
            <a:r>
              <a:rPr dirty="0"/>
              <a:t>The image can contain operating-system packages and </a:t>
            </a:r>
            <a:br>
              <a:rPr lang="en-US" dirty="0"/>
            </a:br>
            <a:r>
              <a:rPr dirty="0"/>
              <a:t>application dependencies that may have known </a:t>
            </a:r>
            <a:br>
              <a:rPr lang="en-US" dirty="0"/>
            </a:br>
            <a:r>
              <a:rPr dirty="0"/>
              <a:t>vulnerabilities.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1737360" y="5440680"/>
            <a:ext cx="3200400" cy="384048"/>
          </a:xfrm>
          <a:prstGeom prst="roundRect">
            <a:avLst/>
          </a:prstGeom>
          <a:solidFill>
            <a:srgbClr val="3A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91626"/>
                </a:solidFill>
                <a:latin typeface="Aptos"/>
              </a:defRPr>
            </a:pPr>
            <a:r>
              <a:t>EC2 → SOFTWARE / PACKAGES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5440680"/>
            <a:ext cx="3200400" cy="384048"/>
          </a:xfrm>
          <a:prstGeom prst="round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91626"/>
                </a:solidFill>
                <a:latin typeface="Aptos"/>
              </a:defRPr>
            </a:pPr>
            <a:r>
              <a:t>ECR → DOCKER IMAGES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What is Amazon Inspector?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0700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2C1D2"/>
                </a:solidFill>
                <a:latin typeface="Aptos"/>
              </a:defRPr>
            </a:pPr>
            <a:r>
              <a:t>AWS security service used to identify known software vulnerabilities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3063240" cy="132588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54864" cy="1325880"/>
          </a:xfrm>
          <a:prstGeom prst="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11679"/>
            <a:ext cx="2697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"/>
              </a:defRPr>
            </a:pPr>
            <a:r>
              <a:t>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41448"/>
            <a:ext cx="2697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2C1D2"/>
                </a:solidFill>
                <a:latin typeface="Aptos"/>
              </a:defRPr>
            </a:pPr>
            <a:r>
              <a:t>Automatically assess supported resources.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57600"/>
            <a:ext cx="3063240" cy="132588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657600"/>
            <a:ext cx="54864" cy="1325880"/>
          </a:xfrm>
          <a:prstGeom prst="rect">
            <a:avLst/>
          </a:prstGeom>
          <a:solidFill>
            <a:srgbClr val="3A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794760"/>
            <a:ext cx="2697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"/>
              </a:defRPr>
            </a:pPr>
            <a:r>
              <a:t>FIND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224528"/>
            <a:ext cx="279768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2C1D2"/>
                </a:solidFill>
                <a:latin typeface="Aptos"/>
              </a:defRPr>
            </a:pPr>
            <a:r>
              <a:rPr dirty="0"/>
              <a:t>Generate vulnerability findings and CVE</a:t>
            </a:r>
            <a:br>
              <a:rPr lang="en-US" dirty="0"/>
            </a:br>
            <a:r>
              <a:rPr dirty="0"/>
              <a:t> information.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8412480" y="1874519"/>
            <a:ext cx="3063240" cy="132588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12480" y="1874519"/>
            <a:ext cx="54864" cy="1325880"/>
          </a:xfrm>
          <a:prstGeom prst="rect">
            <a:avLst/>
          </a:prstGeom>
          <a:solidFill>
            <a:srgbClr val="EB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13648" y="2011679"/>
            <a:ext cx="2697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"/>
              </a:defRPr>
            </a:pPr>
            <a:r>
              <a:t>PRIORITIZE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13648" y="2441448"/>
            <a:ext cx="261404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2C1D2"/>
                </a:solidFill>
                <a:latin typeface="Aptos"/>
              </a:defRPr>
            </a:pPr>
            <a:r>
              <a:rPr dirty="0"/>
              <a:t>Show severity such as Critical, High, </a:t>
            </a:r>
            <a:br>
              <a:rPr lang="en-US" dirty="0"/>
            </a:br>
            <a:r>
              <a:rPr dirty="0"/>
              <a:t>Medium and Low.</a:t>
            </a:r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8412480" y="3657600"/>
            <a:ext cx="3063240" cy="132588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412480" y="3657600"/>
            <a:ext cx="54864" cy="1325880"/>
          </a:xfrm>
          <a:prstGeom prst="rect">
            <a:avLst/>
          </a:prstGeom>
          <a:solidFill>
            <a:srgbClr val="42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13648" y="3794760"/>
            <a:ext cx="2697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F8FC"/>
                </a:solidFill>
                <a:latin typeface="Aptos"/>
              </a:defRPr>
            </a:pPr>
            <a:r>
              <a:t>REMEDIATE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3648" y="4224528"/>
            <a:ext cx="273728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2C1D2"/>
                </a:solidFill>
                <a:latin typeface="Aptos"/>
              </a:defRPr>
            </a:pPr>
            <a:r>
              <a:rPr dirty="0"/>
              <a:t>Provide information that helps identify </a:t>
            </a:r>
            <a:br>
              <a:rPr lang="en-US" dirty="0"/>
            </a:br>
            <a:r>
              <a:rPr dirty="0"/>
              <a:t>the recommended fix.</a:t>
            </a:r>
            <a:endParaRPr dirty="0"/>
          </a:p>
        </p:txBody>
      </p:sp>
      <p:sp>
        <p:nvSpPr>
          <p:cNvPr id="22" name="Oval 21"/>
          <p:cNvSpPr/>
          <p:nvPr/>
        </p:nvSpPr>
        <p:spPr>
          <a:xfrm>
            <a:off x="4655333" y="2148926"/>
            <a:ext cx="2834640" cy="1828800"/>
          </a:xfrm>
          <a:prstGeom prst="ellipse">
            <a:avLst/>
          </a:prstGeom>
          <a:solidFill>
            <a:srgbClr val="143A4E"/>
          </a:solidFill>
          <a:ln>
            <a:solidFill>
              <a:srgbClr val="25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5F8FC"/>
                </a:solidFill>
              </a:defRPr>
            </a:pPr>
            <a:r>
              <a:rPr dirty="0"/>
              <a:t>AMAZON</a:t>
            </a:r>
            <a:br>
              <a:rPr dirty="0"/>
            </a:br>
            <a:r>
              <a:rPr dirty="0"/>
              <a:t>INSPECTOR</a:t>
            </a:r>
            <a:endParaRPr dirty="0"/>
          </a:p>
        </p:txBody>
      </p:sp>
      <p:cxnSp>
        <p:nvCxnSpPr>
          <p:cNvPr id="23" name="Connector 22"/>
          <p:cNvCxnSpPr/>
          <p:nvPr/>
        </p:nvCxnSpPr>
        <p:spPr>
          <a:xfrm>
            <a:off x="3794760" y="2514600"/>
            <a:ext cx="937261" cy="246888"/>
          </a:xfrm>
          <a:prstGeom prst="line">
            <a:avLst/>
          </a:prstGeom>
          <a:ln w="25400">
            <a:solidFill>
              <a:srgbClr val="25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387315" y="2514600"/>
            <a:ext cx="979445" cy="246888"/>
          </a:xfrm>
          <a:prstGeom prst="line">
            <a:avLst/>
          </a:prstGeom>
          <a:ln w="25400">
            <a:solidFill>
              <a:srgbClr val="25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832373" y="3401569"/>
            <a:ext cx="972313" cy="1111709"/>
          </a:xfrm>
          <a:prstGeom prst="line">
            <a:avLst/>
          </a:prstGeom>
          <a:ln w="25400">
            <a:solidFill>
              <a:srgbClr val="25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387315" y="3430428"/>
            <a:ext cx="1025165" cy="1024932"/>
          </a:xfrm>
          <a:prstGeom prst="line">
            <a:avLst/>
          </a:prstGeom>
          <a:ln w="25400">
            <a:solidFill>
              <a:srgbClr val="25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Why is Vulnerability Scanning Needed?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0700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2C1D2"/>
                </a:solidFill>
                <a:latin typeface="Aptos"/>
              </a:defRPr>
            </a:pPr>
            <a:r>
              <a:t>The security problem addressed by the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74519"/>
            <a:ext cx="6766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5F8FC"/>
                </a:solidFill>
                <a:latin typeface="Aptos"/>
              </a:defRPr>
            </a:pPr>
            <a:r>
              <a:rPr dirty="0"/>
              <a:t>• Outdated software may contain known security weaknesses.</a:t>
            </a:r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F5F8FC"/>
                </a:solidFill>
                <a:latin typeface="Aptos"/>
              </a:defRPr>
            </a:pPr>
            <a:r>
              <a:rPr dirty="0"/>
              <a:t>• Manually checking every package is difficult and time-consuming.</a:t>
            </a:r>
            <a:endParaRPr dirty="0"/>
          </a:p>
          <a:p>
            <a:pPr>
              <a:spcAft>
                <a:spcPts val="1000"/>
              </a:spcAft>
              <a:defRPr sz="2000">
                <a:solidFill>
                  <a:srgbClr val="F5F8FC"/>
                </a:solidFill>
                <a:latin typeface="Aptos"/>
              </a:defRPr>
            </a:pPr>
            <a:r>
              <a:rPr dirty="0"/>
              <a:t>• Early detection helps reduce security risks and protect cloud applications.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8001000" y="1874519"/>
            <a:ext cx="3154680" cy="123444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01000" y="1874519"/>
            <a:ext cx="54864" cy="1234440"/>
          </a:xfrm>
          <a:prstGeom prst="rect">
            <a:avLst/>
          </a:prstGeom>
          <a:solidFill>
            <a:srgbClr val="EB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02168" y="2011679"/>
            <a:ext cx="2788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C"/>
                </a:solidFill>
                <a:latin typeface="Aptos"/>
              </a:defRPr>
            </a:pPr>
            <a:r>
              <a:t>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02168" y="2441448"/>
            <a:ext cx="2788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2C1D2"/>
                </a:solidFill>
                <a:latin typeface="Aptos"/>
              </a:defRPr>
            </a:pPr>
            <a:r>
              <a:t>Known weaknesses can remain unnoticed.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3429000"/>
            <a:ext cx="3154680" cy="123444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01000" y="3429000"/>
            <a:ext cx="54864" cy="1234440"/>
          </a:xfrm>
          <a:prstGeom prst="rect">
            <a:avLst/>
          </a:prstGeom>
          <a:solidFill>
            <a:srgbClr val="EFB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2168" y="3566160"/>
            <a:ext cx="2788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C"/>
                </a:solidFill>
                <a:latin typeface="Aptos"/>
              </a:defRPr>
            </a:pPr>
            <a:r>
              <a:t>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2168" y="3995928"/>
            <a:ext cx="246054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2C1D2"/>
                </a:solidFill>
                <a:latin typeface="Aptos"/>
              </a:defRPr>
            </a:pPr>
            <a:r>
              <a:rPr dirty="0"/>
              <a:t>Large environments contain many </a:t>
            </a:r>
            <a:br>
              <a:rPr lang="en-US" dirty="0"/>
            </a:br>
            <a:r>
              <a:rPr dirty="0"/>
              <a:t>packages and images.</a:t>
            </a: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8001000" y="4983480"/>
            <a:ext cx="3154680" cy="123444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4983480"/>
            <a:ext cx="54864" cy="1234440"/>
          </a:xfrm>
          <a:prstGeom prst="rect">
            <a:avLst/>
          </a:prstGeom>
          <a:solidFill>
            <a:srgbClr val="42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2168" y="5120640"/>
            <a:ext cx="2788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C"/>
                </a:solidFill>
                <a:latin typeface="Aptos"/>
              </a:defRPr>
            </a:pPr>
            <a:r>
              <a:t>GOAL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5550408"/>
            <a:ext cx="234506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2C1D2"/>
                </a:solidFill>
                <a:latin typeface="Aptos"/>
              </a:defRPr>
            </a:pPr>
            <a:r>
              <a:rPr dirty="0"/>
              <a:t>Automate detection and support</a:t>
            </a:r>
            <a:br>
              <a:rPr lang="en-US" dirty="0"/>
            </a:br>
            <a:r>
              <a:rPr dirty="0"/>
              <a:t> remediation.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0700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2C1D2"/>
                </a:solidFill>
                <a:latin typeface="Aptos"/>
              </a:defRPr>
            </a:pPr>
            <a:r>
              <a:t>What the project is designed to achieve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3429000" cy="160020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83080"/>
            <a:ext cx="54864" cy="1600200"/>
          </a:xfrm>
          <a:prstGeom prst="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2024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C"/>
                </a:solidFill>
                <a:latin typeface="Aptos"/>
              </a:defRPr>
            </a:pPr>
            <a:r>
              <a:t>01  Scan EC2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50008"/>
            <a:ext cx="3063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2C1D2"/>
                </a:solidFill>
                <a:latin typeface="Aptos"/>
              </a:defRPr>
            </a:pPr>
            <a:r>
              <a:t>Detect vulnerabilities in EC2 instances.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783080"/>
            <a:ext cx="3429000" cy="160020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783080"/>
            <a:ext cx="54864" cy="1600200"/>
          </a:xfrm>
          <a:prstGeom prst="rect">
            <a:avLst/>
          </a:prstGeom>
          <a:solidFill>
            <a:srgbClr val="3A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192024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C"/>
                </a:solidFill>
                <a:latin typeface="Aptos"/>
              </a:defRPr>
            </a:pPr>
            <a:r>
              <a:t>02  Scan ECR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350008"/>
            <a:ext cx="3063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2C1D2"/>
                </a:solidFill>
                <a:latin typeface="Aptos"/>
              </a:defRPr>
            </a:pPr>
            <a:r>
              <a:t>Scan Docker images stored in ECR.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783080"/>
            <a:ext cx="3429000" cy="160020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783080"/>
            <a:ext cx="54864" cy="1600200"/>
          </a:xfrm>
          <a:prstGeom prst="rect">
            <a:avLst/>
          </a:prstGeom>
          <a:solidFill>
            <a:srgbClr val="8B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76488" y="192024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C"/>
                </a:solidFill>
                <a:latin typeface="Aptos"/>
              </a:defRPr>
            </a:pPr>
            <a:r>
              <a:t>03  Analyze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2350008"/>
            <a:ext cx="3063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2C1D2"/>
                </a:solidFill>
                <a:latin typeface="Aptos"/>
              </a:defRPr>
            </a:pPr>
            <a:r>
              <a:t>Identify CVEs and understand severity.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794760"/>
            <a:ext cx="3429000" cy="160020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794760"/>
            <a:ext cx="54864" cy="1600200"/>
          </a:xfrm>
          <a:prstGeom prst="rect">
            <a:avLst/>
          </a:prstGeom>
          <a:solidFill>
            <a:srgbClr val="42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93192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C"/>
                </a:solidFill>
                <a:latin typeface="Aptos"/>
              </a:defRPr>
            </a:pPr>
            <a:r>
              <a:t>04  Remediate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361688"/>
            <a:ext cx="3063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2C1D2"/>
                </a:solidFill>
                <a:latin typeface="Aptos"/>
              </a:defRPr>
            </a:pPr>
            <a:r>
              <a:t>Fix vulnerable software and images.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794760"/>
            <a:ext cx="3429000" cy="160020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3794760"/>
            <a:ext cx="54864" cy="1600200"/>
          </a:xfrm>
          <a:prstGeom prst="rect">
            <a:avLst/>
          </a:prstGeom>
          <a:solidFill>
            <a:srgbClr val="EFB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81728" y="3931920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C"/>
                </a:solidFill>
                <a:latin typeface="Aptos"/>
              </a:defRPr>
            </a:pPr>
            <a:r>
              <a:t>05  Verify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1728" y="4361688"/>
            <a:ext cx="3063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2C1D2"/>
                </a:solidFill>
                <a:latin typeface="Aptos"/>
              </a:defRPr>
            </a:pPr>
            <a:r>
              <a:t>Rescan and compare results after fixing.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334328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rPr dirty="0"/>
              <a:t>Project </a:t>
            </a:r>
            <a:r>
              <a:rPr lang="en-IN" dirty="0"/>
              <a:t>Architecture:</a:t>
            </a:r>
            <a:endParaRPr dirty="0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399" y="1237865"/>
            <a:ext cx="10234568" cy="49983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EC2 Scanning —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0700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2C1D2"/>
                </a:solidFill>
                <a:latin typeface="Aptos"/>
              </a:defRPr>
            </a:pPr>
            <a:r>
              <a:t>From instance creation to verification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45920"/>
            <a:ext cx="594360" cy="384048"/>
          </a:xfrm>
          <a:prstGeom prst="round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9162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27632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C"/>
                </a:solidFill>
              </a:defRPr>
            </a:pPr>
            <a:r>
              <a:t>Launch EC2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1627632"/>
            <a:ext cx="7223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2C1D2"/>
                </a:solidFill>
              </a:defRPr>
            </a:pPr>
            <a:r>
              <a:t>Use a supported operating system.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496312"/>
            <a:ext cx="594360" cy="384048"/>
          </a:xfrm>
          <a:prstGeom prst="round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9162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478024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C"/>
                </a:solidFill>
              </a:defRPr>
            </a:pPr>
            <a:r>
              <a:t>Run Software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478024"/>
            <a:ext cx="7223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2C1D2"/>
                </a:solidFill>
              </a:defRPr>
            </a:pPr>
            <a:r>
              <a:t>Install or run the required application/software.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46704"/>
            <a:ext cx="594360" cy="384048"/>
          </a:xfrm>
          <a:prstGeom prst="round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9162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328416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C"/>
                </a:solidFill>
              </a:defRPr>
            </a:pPr>
            <a:r>
              <a:t>Enable Inspector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328416"/>
            <a:ext cx="7223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2C1D2"/>
                </a:solidFill>
              </a:defRPr>
            </a:pPr>
            <a:r>
              <a:t>Enable Amazon Inspector for EC2 scanning.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197096"/>
            <a:ext cx="594360" cy="384048"/>
          </a:xfrm>
          <a:prstGeom prst="round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9162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178808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C"/>
                </a:solidFill>
              </a:defRPr>
            </a:pPr>
            <a:r>
              <a:t>Review Findings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4178808"/>
            <a:ext cx="7223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2C1D2"/>
                </a:solidFill>
              </a:defRPr>
            </a:pPr>
            <a:r>
              <a:t>Check vulnerable packages, CVEs, severity and recommended fixes.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047488"/>
            <a:ext cx="594360" cy="384048"/>
          </a:xfrm>
          <a:prstGeom prst="round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9162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02920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C"/>
                </a:solidFill>
              </a:defRPr>
            </a:pPr>
            <a:r>
              <a:t>Update &amp; 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5029200"/>
            <a:ext cx="7223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2C1D2"/>
                </a:solidFill>
              </a:defRPr>
            </a:pPr>
            <a:r>
              <a:t>Update vulnerable packages and perform another scan.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ECR Scanning —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0700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2C1D2"/>
                </a:solidFill>
                <a:latin typeface="Aptos"/>
              </a:defRPr>
            </a:pPr>
            <a:r>
              <a:t>Container image lifecycle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40280"/>
            <a:ext cx="1371600" cy="132588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240280"/>
            <a:ext cx="54864" cy="1325880"/>
          </a:xfrm>
          <a:prstGeom prst="rect">
            <a:avLst/>
          </a:prstGeom>
          <a:solidFill>
            <a:srgbClr val="3A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37744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F8FC"/>
                </a:solidFill>
                <a:latin typeface="Aptos"/>
              </a:defRPr>
            </a:pPr>
            <a:r>
              <a:t>Dockerfile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807208"/>
            <a:ext cx="1005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2C1D2"/>
                </a:solidFill>
                <a:latin typeface="Aptos"/>
              </a:defRPr>
            </a:pPr>
            <a:r>
              <a:t>Build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74519" y="2898648"/>
            <a:ext cx="201169" cy="0"/>
          </a:xfrm>
          <a:prstGeom prst="line">
            <a:avLst/>
          </a:prstGeom>
          <a:ln w="25400">
            <a:solidFill>
              <a:srgbClr val="25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130552" y="2240280"/>
            <a:ext cx="1371600" cy="132588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30552" y="2240280"/>
            <a:ext cx="54864" cy="1325880"/>
          </a:xfrm>
          <a:prstGeom prst="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237744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F8FC"/>
                </a:solidFill>
                <a:latin typeface="Aptos"/>
              </a:defRPr>
            </a:pPr>
            <a:r>
              <a:t>Docker Image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2807208"/>
            <a:ext cx="1005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2C1D2"/>
                </a:solidFill>
                <a:latin typeface="Aptos"/>
              </a:defRPr>
            </a:pPr>
            <a:r>
              <a:t>Package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502152" y="2898648"/>
            <a:ext cx="201168" cy="0"/>
          </a:xfrm>
          <a:prstGeom prst="line">
            <a:avLst/>
          </a:prstGeom>
          <a:ln w="25400">
            <a:solidFill>
              <a:srgbClr val="25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758184" y="2240280"/>
            <a:ext cx="1371600" cy="132588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58184" y="2240280"/>
            <a:ext cx="54864" cy="1325880"/>
          </a:xfrm>
          <a:prstGeom prst="rect">
            <a:avLst/>
          </a:prstGeom>
          <a:solidFill>
            <a:srgbClr val="8B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59352" y="237744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F8FC"/>
                </a:solidFill>
                <a:latin typeface="Aptos"/>
              </a:defRPr>
            </a:pPr>
            <a:r>
              <a:t>ECR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59352" y="2807208"/>
            <a:ext cx="1005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2C1D2"/>
                </a:solidFill>
                <a:latin typeface="Aptos"/>
              </a:defRPr>
            </a:pPr>
            <a:r>
              <a:t>Push / Store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129784" y="2898648"/>
            <a:ext cx="201168" cy="0"/>
          </a:xfrm>
          <a:prstGeom prst="line">
            <a:avLst/>
          </a:prstGeom>
          <a:ln w="25400">
            <a:solidFill>
              <a:srgbClr val="25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385816" y="2240280"/>
            <a:ext cx="1371600" cy="132588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5816" y="2240280"/>
            <a:ext cx="54864" cy="1325880"/>
          </a:xfrm>
          <a:prstGeom prst="rect">
            <a:avLst/>
          </a:prstGeom>
          <a:solidFill>
            <a:srgbClr val="EB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86983" y="237744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F8FC"/>
                </a:solidFill>
                <a:latin typeface="Aptos"/>
              </a:defRPr>
            </a:pPr>
            <a:r>
              <a:t>Inspector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86983" y="2807208"/>
            <a:ext cx="1005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2C1D2"/>
                </a:solidFill>
                <a:latin typeface="Aptos"/>
              </a:defRPr>
            </a:pPr>
            <a:r>
              <a:t>Scan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757416" y="2898648"/>
            <a:ext cx="201167" cy="0"/>
          </a:xfrm>
          <a:prstGeom prst="line">
            <a:avLst/>
          </a:prstGeom>
          <a:ln w="25400">
            <a:solidFill>
              <a:srgbClr val="25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013448" y="2240280"/>
            <a:ext cx="1371600" cy="132588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13448" y="2240280"/>
            <a:ext cx="54864" cy="1325880"/>
          </a:xfrm>
          <a:prstGeom prst="rect">
            <a:avLst/>
          </a:prstGeom>
          <a:solidFill>
            <a:srgbClr val="EFB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14616" y="237744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F8FC"/>
                </a:solidFill>
                <a:latin typeface="Aptos"/>
              </a:defRPr>
            </a:pPr>
            <a:r>
              <a:t>Findings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14616" y="2807208"/>
            <a:ext cx="1005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2C1D2"/>
                </a:solidFill>
                <a:latin typeface="Aptos"/>
              </a:defRPr>
            </a:pPr>
            <a:r>
              <a:t>Analyze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385048" y="2898648"/>
            <a:ext cx="201168" cy="0"/>
          </a:xfrm>
          <a:prstGeom prst="line">
            <a:avLst/>
          </a:prstGeom>
          <a:ln w="25400">
            <a:solidFill>
              <a:srgbClr val="25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641080" y="2240280"/>
            <a:ext cx="1371600" cy="132588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641080" y="2240280"/>
            <a:ext cx="54864" cy="1325880"/>
          </a:xfrm>
          <a:prstGeom prst="rect">
            <a:avLst/>
          </a:prstGeom>
          <a:solidFill>
            <a:srgbClr val="42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42248" y="237744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F8FC"/>
                </a:solidFill>
                <a:latin typeface="Aptos"/>
              </a:defRPr>
            </a:pPr>
            <a:r>
              <a:t>Update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42248" y="2807208"/>
            <a:ext cx="1005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2C1D2"/>
                </a:solidFill>
                <a:latin typeface="Aptos"/>
              </a:defRPr>
            </a:pPr>
            <a:r>
              <a:t>Rebuild / Push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0012680" y="2898648"/>
            <a:ext cx="201168" cy="0"/>
          </a:xfrm>
          <a:prstGeom prst="line">
            <a:avLst/>
          </a:prstGeom>
          <a:ln w="25400">
            <a:solidFill>
              <a:srgbClr val="25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0268712" y="2240280"/>
            <a:ext cx="1371600" cy="132588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268712" y="2240280"/>
            <a:ext cx="54864" cy="1325880"/>
          </a:xfrm>
          <a:prstGeom prst="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69880" y="237744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F8FC"/>
                </a:solidFill>
                <a:latin typeface="Aptos"/>
              </a:defRPr>
            </a:pPr>
            <a:r>
              <a:t>Rescan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69880" y="2807208"/>
            <a:ext cx="1005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2C1D2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7780" y="4160520"/>
            <a:ext cx="123179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F5F8FC"/>
                </a:solidFill>
              </a:defRPr>
            </a:pPr>
            <a:r>
              <a:rPr b="1" dirty="0"/>
              <a:t>Key output: </a:t>
            </a:r>
            <a:endParaRPr lang="en-IN" b="1" dirty="0"/>
          </a:p>
          <a:p>
            <a:pPr>
              <a:defRPr sz="1800">
                <a:solidFill>
                  <a:srgbClr val="F5F8FC"/>
                </a:solidFill>
              </a:defRPr>
            </a:pPr>
            <a:r>
              <a:rPr lang="en-IN" dirty="0"/>
              <a:t>A</a:t>
            </a:r>
            <a:r>
              <a:rPr dirty="0"/>
              <a:t> vulnerability finding associated with the container image, including affected package/dependency, CVE and severity.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Understanding CVE &amp; Severity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0700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2C1D2"/>
                </a:solidFill>
                <a:latin typeface="Aptos"/>
              </a:defRPr>
            </a:pPr>
            <a:r>
              <a:t>How vulnerability findings are described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846320" cy="338328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83080"/>
            <a:ext cx="54864" cy="3383280"/>
          </a:xfrm>
          <a:prstGeom prst="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20240"/>
            <a:ext cx="308231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8FC"/>
                </a:solidFill>
                <a:latin typeface="Aptos"/>
              </a:defRPr>
            </a:pPr>
            <a:r>
              <a:rPr sz="1400" dirty="0"/>
              <a:t>CVE  |  Common Vulnerabilities and </a:t>
            </a:r>
            <a:br>
              <a:rPr lang="en-US" sz="1400" dirty="0"/>
            </a:br>
            <a:r>
              <a:rPr sz="1400" dirty="0"/>
              <a:t>Exposures</a:t>
            </a:r>
            <a:endParaRPr sz="1400" dirty="0"/>
          </a:p>
        </p:txBody>
      </p:sp>
      <p:sp>
        <p:nvSpPr>
          <p:cNvPr id="9" name="TextBox 8"/>
          <p:cNvSpPr txBox="1"/>
          <p:nvPr/>
        </p:nvSpPr>
        <p:spPr>
          <a:xfrm>
            <a:off x="932688" y="2350008"/>
            <a:ext cx="4114973" cy="181588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2C1D2"/>
                </a:solidFill>
                <a:latin typeface="Aptos"/>
              </a:defRPr>
            </a:pPr>
            <a:r>
              <a:rPr dirty="0"/>
              <a:t>A CVE is an identifier for a publicly known security </a:t>
            </a:r>
            <a:br>
              <a:rPr lang="en-US" dirty="0"/>
            </a:br>
            <a:r>
              <a:rPr dirty="0"/>
              <a:t>vulnerability.</a:t>
            </a:r>
            <a:br>
              <a:rPr dirty="0"/>
            </a:br>
            <a:br>
              <a:rPr dirty="0"/>
            </a:br>
            <a:r>
              <a:rPr dirty="0"/>
              <a:t>Example format:</a:t>
            </a:r>
            <a:br>
              <a:rPr dirty="0"/>
            </a:br>
            <a:r>
              <a:rPr dirty="0"/>
              <a:t>CVE-YYYY-NNNNN</a:t>
            </a:r>
            <a:br>
              <a:rPr dirty="0"/>
            </a:br>
            <a:br>
              <a:rPr dirty="0"/>
            </a:br>
            <a:r>
              <a:rPr dirty="0"/>
              <a:t>The identifier helps teams refer to the same known </a:t>
            </a:r>
            <a:br>
              <a:rPr lang="en-US" dirty="0"/>
            </a:br>
            <a:r>
              <a:rPr dirty="0"/>
              <a:t>vulnerability consistently.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5989320" y="1691640"/>
            <a:ext cx="5212080" cy="82296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89320" y="1691640"/>
            <a:ext cx="54864" cy="822960"/>
          </a:xfrm>
          <a:prstGeom prst="rect">
            <a:avLst/>
          </a:prstGeom>
          <a:solidFill>
            <a:srgbClr val="EB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0488" y="18288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  <a:latin typeface="Aptos"/>
              </a:defRPr>
            </a:pPr>
            <a: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0488" y="2258568"/>
            <a:ext cx="48463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2C1D2"/>
                </a:solidFill>
                <a:latin typeface="Aptos"/>
              </a:defRPr>
            </a:pPr>
            <a:r>
              <a:t>Highest severity category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2697480"/>
            <a:ext cx="5212080" cy="82296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89320" y="2697480"/>
            <a:ext cx="54864" cy="822960"/>
          </a:xfrm>
          <a:prstGeom prst="rect">
            <a:avLst/>
          </a:prstGeom>
          <a:solidFill>
            <a:srgbClr val="EFB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0488" y="28346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0488" y="3264408"/>
            <a:ext cx="48463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2C1D2"/>
                </a:solidFill>
                <a:latin typeface="Aptos"/>
              </a:defRPr>
            </a:pPr>
            <a:r>
              <a:t>High priority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3703320"/>
            <a:ext cx="5212080" cy="82296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89320" y="3703320"/>
            <a:ext cx="54864" cy="822960"/>
          </a:xfrm>
          <a:prstGeom prst="rect">
            <a:avLst/>
          </a:prstGeom>
          <a:solidFill>
            <a:srgbClr val="3A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0488" y="38404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  <a:latin typeface="Aptos"/>
              </a:defRPr>
            </a:pPr>
            <a:r>
              <a:t>MEDIUM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0488" y="4270248"/>
            <a:ext cx="48463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2C1D2"/>
                </a:solidFill>
                <a:latin typeface="Aptos"/>
              </a:defRPr>
            </a:pPr>
            <a:r>
              <a:t>Moderate severity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0" y="4709160"/>
            <a:ext cx="5212080" cy="82296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89320" y="4709160"/>
            <a:ext cx="54864" cy="822960"/>
          </a:xfrm>
          <a:prstGeom prst="rect">
            <a:avLst/>
          </a:prstGeom>
          <a:solidFill>
            <a:srgbClr val="42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0488" y="484632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F8FC"/>
                </a:solidFill>
                <a:latin typeface="Aptos"/>
              </a:defRPr>
            </a:pPr>
            <a: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0488" y="5276088"/>
            <a:ext cx="48463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2C1D2"/>
                </a:solidFill>
                <a:latin typeface="Aptos"/>
              </a:defRPr>
            </a:pPr>
            <a:r>
              <a:t>Lower severity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Vulnerability Remediation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0700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2C1D2"/>
                </a:solidFill>
                <a:latin typeface="Aptos"/>
              </a:defRPr>
            </a:pPr>
            <a:r>
              <a:t>Turning a finding into a verified fix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548640" cy="384048"/>
          </a:xfrm>
          <a:prstGeom prst="roundRect">
            <a:avLst/>
          </a:prstGeom>
          <a:solidFill>
            <a:srgbClr val="EB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9162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423160"/>
            <a:ext cx="1965960" cy="1874519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423160"/>
            <a:ext cx="54864" cy="1874519"/>
          </a:xfrm>
          <a:prstGeom prst="rect">
            <a:avLst/>
          </a:prstGeom>
          <a:solidFill>
            <a:srgbClr val="EB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560320"/>
            <a:ext cx="1600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C"/>
                </a:solidFill>
                <a:latin typeface="Aptos"/>
              </a:defRPr>
            </a:pPr>
            <a:r>
              <a:t>Find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990088"/>
            <a:ext cx="1717137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2C1D2"/>
                </a:solidFill>
                <a:latin typeface="Aptos"/>
              </a:defRPr>
            </a:pPr>
            <a:r>
              <a:rPr dirty="0"/>
              <a:t>Identify affected package</a:t>
            </a:r>
            <a:endParaRPr lang="en-US" dirty="0"/>
          </a:p>
          <a:p>
            <a:pPr>
              <a:defRPr sz="1100">
                <a:solidFill>
                  <a:srgbClr val="B2C1D2"/>
                </a:solidFill>
                <a:latin typeface="Aptos"/>
              </a:defRPr>
            </a:pPr>
            <a:r>
              <a:rPr dirty="0"/>
              <a:t> or dependency.</a:t>
            </a:r>
            <a:endParaRPr dirty="0"/>
          </a:p>
        </p:txBody>
      </p:sp>
      <p:cxnSp>
        <p:nvCxnSpPr>
          <p:cNvPr id="11" name="Connector 10"/>
          <p:cNvCxnSpPr/>
          <p:nvPr/>
        </p:nvCxnSpPr>
        <p:spPr>
          <a:xfrm>
            <a:off x="2560320" y="3355848"/>
            <a:ext cx="246888" cy="0"/>
          </a:xfrm>
          <a:prstGeom prst="line">
            <a:avLst/>
          </a:prstGeom>
          <a:ln w="25400">
            <a:solidFill>
              <a:srgbClr val="25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0360" y="1828800"/>
            <a:ext cx="548640" cy="384048"/>
          </a:xfrm>
          <a:prstGeom prst="roundRect">
            <a:avLst/>
          </a:prstGeom>
          <a:solidFill>
            <a:srgbClr val="EFB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9162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0360" y="2423160"/>
            <a:ext cx="1965960" cy="1874519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80360" y="2423160"/>
            <a:ext cx="54864" cy="1874519"/>
          </a:xfrm>
          <a:prstGeom prst="rect">
            <a:avLst/>
          </a:prstGeom>
          <a:solidFill>
            <a:srgbClr val="EFB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81528" y="2560320"/>
            <a:ext cx="1600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C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1528" y="2990088"/>
            <a:ext cx="1766830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2C1D2"/>
                </a:solidFill>
                <a:latin typeface="Aptos"/>
              </a:defRPr>
            </a:pPr>
            <a:r>
              <a:rPr dirty="0"/>
              <a:t>Review the recommended</a:t>
            </a:r>
            <a:endParaRPr lang="en-US" dirty="0"/>
          </a:p>
          <a:p>
            <a:pPr>
              <a:defRPr sz="1100">
                <a:solidFill>
                  <a:srgbClr val="B2C1D2"/>
                </a:solidFill>
                <a:latin typeface="Aptos"/>
              </a:defRPr>
            </a:pPr>
            <a:r>
              <a:rPr dirty="0"/>
              <a:t> fixed version.</a:t>
            </a:r>
            <a:endParaRPr dirty="0"/>
          </a:p>
        </p:txBody>
      </p:sp>
      <p:cxnSp>
        <p:nvCxnSpPr>
          <p:cNvPr id="17" name="Connector 16"/>
          <p:cNvCxnSpPr/>
          <p:nvPr/>
        </p:nvCxnSpPr>
        <p:spPr>
          <a:xfrm>
            <a:off x="4846320" y="3355848"/>
            <a:ext cx="246888" cy="0"/>
          </a:xfrm>
          <a:prstGeom prst="line">
            <a:avLst/>
          </a:prstGeom>
          <a:ln w="25400">
            <a:solidFill>
              <a:srgbClr val="25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66360" y="1828800"/>
            <a:ext cx="548640" cy="384048"/>
          </a:xfrm>
          <a:prstGeom prst="roundRect">
            <a:avLst/>
          </a:prstGeom>
          <a:solidFill>
            <a:srgbClr val="3A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9162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66360" y="2423160"/>
            <a:ext cx="1965960" cy="1874519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66360" y="2423160"/>
            <a:ext cx="54864" cy="1874519"/>
          </a:xfrm>
          <a:prstGeom prst="rect">
            <a:avLst/>
          </a:prstGeom>
          <a:solidFill>
            <a:srgbClr val="3A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67528" y="2560320"/>
            <a:ext cx="1600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C"/>
                </a:solidFill>
                <a:latin typeface="Aptos"/>
              </a:defRPr>
            </a:pPr>
            <a:r>
              <a:t>Update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67528" y="2990088"/>
            <a:ext cx="1563248" cy="6001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2C1D2"/>
                </a:solidFill>
                <a:latin typeface="Aptos"/>
              </a:defRPr>
            </a:pPr>
            <a:r>
              <a:rPr dirty="0"/>
              <a:t>Patch EC2 software or </a:t>
            </a:r>
            <a:endParaRPr lang="en-US" dirty="0"/>
          </a:p>
          <a:p>
            <a:pPr>
              <a:defRPr sz="1100">
                <a:solidFill>
                  <a:srgbClr val="B2C1D2"/>
                </a:solidFill>
                <a:latin typeface="Aptos"/>
              </a:defRPr>
            </a:pPr>
            <a:r>
              <a:rPr dirty="0"/>
              <a:t>update Docker base </a:t>
            </a:r>
            <a:endParaRPr lang="en-US" dirty="0"/>
          </a:p>
          <a:p>
            <a:pPr>
              <a:defRPr sz="1100">
                <a:solidFill>
                  <a:srgbClr val="B2C1D2"/>
                </a:solidFill>
                <a:latin typeface="Aptos"/>
              </a:defRPr>
            </a:pPr>
            <a:r>
              <a:rPr dirty="0"/>
              <a:t>image/dependencies.</a:t>
            </a:r>
            <a:endParaRPr dirty="0"/>
          </a:p>
        </p:txBody>
      </p:sp>
      <p:cxnSp>
        <p:nvCxnSpPr>
          <p:cNvPr id="23" name="Connector 22"/>
          <p:cNvCxnSpPr/>
          <p:nvPr/>
        </p:nvCxnSpPr>
        <p:spPr>
          <a:xfrm>
            <a:off x="7132320" y="3355848"/>
            <a:ext cx="246888" cy="0"/>
          </a:xfrm>
          <a:prstGeom prst="line">
            <a:avLst/>
          </a:prstGeom>
          <a:ln w="25400">
            <a:solidFill>
              <a:srgbClr val="25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52360" y="1828800"/>
            <a:ext cx="548640" cy="384048"/>
          </a:xfrm>
          <a:prstGeom prst="roundRect">
            <a:avLst/>
          </a:prstGeom>
          <a:solidFill>
            <a:srgbClr val="8B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9162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52360" y="2423160"/>
            <a:ext cx="1965960" cy="1874519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52360" y="2423160"/>
            <a:ext cx="54864" cy="1874519"/>
          </a:xfrm>
          <a:prstGeom prst="rect">
            <a:avLst/>
          </a:prstGeom>
          <a:solidFill>
            <a:srgbClr val="8B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53528" y="2560320"/>
            <a:ext cx="1600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C"/>
                </a:solidFill>
                <a:latin typeface="Aptos"/>
              </a:defRPr>
            </a:pPr>
            <a:r>
              <a:t>Rebuild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53528" y="2990088"/>
            <a:ext cx="176362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2C1D2"/>
                </a:solidFill>
                <a:latin typeface="Aptos"/>
              </a:defRPr>
            </a:pPr>
            <a:r>
              <a:rPr dirty="0"/>
              <a:t>For ECR, rebuild and push</a:t>
            </a:r>
            <a:endParaRPr lang="en-US" dirty="0"/>
          </a:p>
          <a:p>
            <a:pPr>
              <a:defRPr sz="1100">
                <a:solidFill>
                  <a:srgbClr val="B2C1D2"/>
                </a:solidFill>
                <a:latin typeface="Aptos"/>
              </a:defRPr>
            </a:pPr>
            <a:r>
              <a:rPr dirty="0"/>
              <a:t> the updated image.</a:t>
            </a:r>
            <a:endParaRPr dirty="0"/>
          </a:p>
        </p:txBody>
      </p:sp>
      <p:cxnSp>
        <p:nvCxnSpPr>
          <p:cNvPr id="29" name="Connector 28"/>
          <p:cNvCxnSpPr/>
          <p:nvPr/>
        </p:nvCxnSpPr>
        <p:spPr>
          <a:xfrm>
            <a:off x="9418320" y="3355848"/>
            <a:ext cx="246888" cy="0"/>
          </a:xfrm>
          <a:prstGeom prst="line">
            <a:avLst/>
          </a:prstGeom>
          <a:ln w="25400">
            <a:solidFill>
              <a:srgbClr val="25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738360" y="1828800"/>
            <a:ext cx="548640" cy="384048"/>
          </a:xfrm>
          <a:prstGeom prst="roundRect">
            <a:avLst/>
          </a:prstGeom>
          <a:solidFill>
            <a:srgbClr val="42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91626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38360" y="2423160"/>
            <a:ext cx="1965960" cy="1874519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738360" y="2423160"/>
            <a:ext cx="54864" cy="1874519"/>
          </a:xfrm>
          <a:prstGeom prst="rect">
            <a:avLst/>
          </a:prstGeom>
          <a:solidFill>
            <a:srgbClr val="42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39528" y="2560320"/>
            <a:ext cx="1600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5F8FC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39528" y="2990088"/>
            <a:ext cx="1766830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2C1D2"/>
                </a:solidFill>
                <a:latin typeface="Aptos"/>
              </a:defRPr>
            </a:pPr>
            <a:r>
              <a:rPr dirty="0"/>
              <a:t>Run another scan and </a:t>
            </a:r>
            <a:endParaRPr lang="en-US" dirty="0"/>
          </a:p>
          <a:p>
            <a:pPr>
              <a:defRPr sz="1100">
                <a:solidFill>
                  <a:srgbClr val="B2C1D2"/>
                </a:solidFill>
                <a:latin typeface="Aptos"/>
              </a:defRPr>
            </a:pPr>
            <a:r>
              <a:rPr dirty="0"/>
              <a:t>confirm the improvement.</a:t>
            </a:r>
            <a:endParaRPr dirty="0"/>
          </a:p>
        </p:txBody>
      </p:sp>
      <p:sp>
        <p:nvSpPr>
          <p:cNvPr id="35" name="Rounded Rectangle 34"/>
          <p:cNvSpPr/>
          <p:nvPr/>
        </p:nvSpPr>
        <p:spPr>
          <a:xfrm>
            <a:off x="3931920" y="4892040"/>
            <a:ext cx="4297680" cy="384048"/>
          </a:xfrm>
          <a:prstGeom prst="round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91626"/>
                </a:solidFill>
                <a:latin typeface="Aptos"/>
              </a:defRPr>
            </a:pPr>
            <a:r>
              <a:t>BEFORE  →  FIX  →  AFTER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Expected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0700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2C1D2"/>
                </a:solidFill>
                <a:latin typeface="Aptos"/>
              </a:defRPr>
            </a:pPr>
            <a:r>
              <a:t>What the completed project should demonstrate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3474720" cy="205740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37360"/>
            <a:ext cx="54864" cy="2057400"/>
          </a:xfrm>
          <a:prstGeom prst="rect">
            <a:avLst/>
          </a:prstGeom>
          <a:solidFill>
            <a:srgbClr val="3A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874519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8FC"/>
                </a:solidFill>
                <a:latin typeface="Aptos"/>
              </a:defRPr>
            </a:pPr>
            <a:r>
              <a:t>EC2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04288"/>
            <a:ext cx="337502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2C1D2"/>
                </a:solidFill>
                <a:latin typeface="Aptos"/>
              </a:defRPr>
            </a:pPr>
            <a:r>
              <a:rPr dirty="0"/>
              <a:t>Identify vulnerabilities in EC2 and </a:t>
            </a:r>
            <a:endParaRPr lang="en-US" dirty="0"/>
          </a:p>
          <a:p>
            <a:pPr>
              <a:defRPr sz="1400">
                <a:solidFill>
                  <a:srgbClr val="B2C1D2"/>
                </a:solidFill>
                <a:latin typeface="Aptos"/>
              </a:defRPr>
            </a:pPr>
            <a:r>
              <a:rPr dirty="0"/>
              <a:t>understand which packages are affected.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4361688" y="1737360"/>
            <a:ext cx="3474720" cy="205740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1688" y="1737360"/>
            <a:ext cx="54864" cy="2057400"/>
          </a:xfrm>
          <a:prstGeom prst="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2855" y="1874519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8FC"/>
                </a:solidFill>
                <a:latin typeface="Aptos"/>
              </a:defRPr>
            </a:pPr>
            <a:r>
              <a:t>ECR 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5" y="2304288"/>
            <a:ext cx="288880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2C1D2"/>
                </a:solidFill>
                <a:latin typeface="Aptos"/>
              </a:defRPr>
            </a:pPr>
            <a:r>
              <a:rPr dirty="0"/>
              <a:t>Identify vulnerabilities in container </a:t>
            </a:r>
            <a:endParaRPr lang="en-US" dirty="0"/>
          </a:p>
          <a:p>
            <a:pPr>
              <a:defRPr sz="1400">
                <a:solidFill>
                  <a:srgbClr val="B2C1D2"/>
                </a:solidFill>
                <a:latin typeface="Aptos"/>
              </a:defRPr>
            </a:pPr>
            <a:r>
              <a:rPr dirty="0"/>
              <a:t>images and their dependencies.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8037575" y="1737360"/>
            <a:ext cx="3474720" cy="205740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37575" y="1737360"/>
            <a:ext cx="54864" cy="2057400"/>
          </a:xfrm>
          <a:prstGeom prst="rect">
            <a:avLst/>
          </a:prstGeom>
          <a:solidFill>
            <a:srgbClr val="8B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8744" y="1874519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8FC"/>
                </a:solidFill>
                <a:latin typeface="Aptos"/>
              </a:defRPr>
            </a:pPr>
            <a:r>
              <a:t>SEVERITY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38744" y="2304288"/>
            <a:ext cx="286674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2C1D2"/>
                </a:solidFill>
                <a:latin typeface="Aptos"/>
              </a:defRPr>
            </a:pPr>
            <a:r>
              <a:rPr dirty="0"/>
              <a:t>View CVE information and severity </a:t>
            </a:r>
            <a:endParaRPr lang="en-US" dirty="0"/>
          </a:p>
          <a:p>
            <a:pPr>
              <a:defRPr sz="1400">
                <a:solidFill>
                  <a:srgbClr val="B2C1D2"/>
                </a:solidFill>
                <a:latin typeface="Aptos"/>
              </a:defRPr>
            </a:pPr>
            <a:r>
              <a:rPr dirty="0"/>
              <a:t>categories for findings.</a:t>
            </a:r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2514600" y="4160520"/>
            <a:ext cx="3474720" cy="160020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14600" y="4160520"/>
            <a:ext cx="54864" cy="1600200"/>
          </a:xfrm>
          <a:prstGeom prst="rect">
            <a:avLst/>
          </a:prstGeom>
          <a:solidFill>
            <a:srgbClr val="42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15768" y="42976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C"/>
                </a:solidFill>
                <a:latin typeface="Aptos"/>
              </a:defRPr>
            </a:pPr>
            <a:r>
              <a:t>REMEDIATION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15768" y="4727448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2C1D2"/>
                </a:solidFill>
                <a:latin typeface="Aptos"/>
              </a:defRPr>
            </a:pPr>
            <a:r>
              <a:t>Update affected software or images.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4160520"/>
            <a:ext cx="3474720" cy="160020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0488" y="4160520"/>
            <a:ext cx="54864" cy="1600200"/>
          </a:xfrm>
          <a:prstGeom prst="rect">
            <a:avLst/>
          </a:prstGeom>
          <a:solidFill>
            <a:srgbClr val="EFB2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91655" y="429768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5F8FC"/>
                </a:solidFill>
                <a:latin typeface="Aptos"/>
              </a:defRPr>
            </a:pPr>
            <a:r>
              <a:t>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655" y="4727448"/>
            <a:ext cx="318298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2C1D2"/>
                </a:solidFill>
                <a:latin typeface="Aptos"/>
              </a:defRPr>
            </a:pPr>
            <a:r>
              <a:rPr dirty="0"/>
              <a:t>Demonstrate security improvement using </a:t>
            </a:r>
            <a:endParaRPr lang="en-US" dirty="0"/>
          </a:p>
          <a:p>
            <a:pPr>
              <a:defRPr sz="1300">
                <a:solidFill>
                  <a:srgbClr val="B2C1D2"/>
                </a:solidFill>
                <a:latin typeface="Aptos"/>
              </a:defRPr>
            </a:pPr>
            <a:r>
              <a:rPr dirty="0"/>
              <a:t>before-and-after scans.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20700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2C1D2"/>
                </a:solidFill>
                <a:latin typeface="Aptos"/>
              </a:defRPr>
            </a:pPr>
            <a:r>
              <a:t>How the project can be extended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2468880" cy="274320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65960"/>
            <a:ext cx="54864" cy="2743200"/>
          </a:xfrm>
          <a:prstGeom prst="rect">
            <a:avLst/>
          </a:prstGeom>
          <a:solidFill>
            <a:srgbClr val="EB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031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8FC"/>
                </a:solidFill>
                <a:latin typeface="Aptos"/>
              </a:defRPr>
            </a:pPr>
            <a:r>
              <a:t>ALERTS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32888"/>
            <a:ext cx="231813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2C1D2"/>
                </a:solidFill>
                <a:latin typeface="Aptos"/>
              </a:defRPr>
            </a:pPr>
            <a:r>
              <a:rPr dirty="0"/>
              <a:t>Automatic alerts for Critical</a:t>
            </a:r>
            <a:endParaRPr lang="en-US" dirty="0"/>
          </a:p>
          <a:p>
            <a:pPr>
              <a:defRPr sz="1400">
                <a:solidFill>
                  <a:srgbClr val="B2C1D2"/>
                </a:solidFill>
                <a:latin typeface="Aptos"/>
              </a:defRPr>
            </a:pPr>
            <a:r>
              <a:rPr dirty="0"/>
              <a:t> or High findings.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3520439" y="1965960"/>
            <a:ext cx="2468880" cy="274320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39" y="1965960"/>
            <a:ext cx="54864" cy="2743200"/>
          </a:xfrm>
          <a:prstGeom prst="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607" y="21031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8FC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7" y="2532888"/>
            <a:ext cx="197688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2C1D2"/>
                </a:solidFill>
                <a:latin typeface="Aptos"/>
              </a:defRPr>
            </a:pPr>
            <a:r>
              <a:rPr dirty="0"/>
              <a:t>Security dashboard for </a:t>
            </a:r>
            <a:endParaRPr lang="en-US" dirty="0"/>
          </a:p>
          <a:p>
            <a:pPr>
              <a:defRPr sz="1400">
                <a:solidFill>
                  <a:srgbClr val="B2C1D2"/>
                </a:solidFill>
                <a:latin typeface="Aptos"/>
              </a:defRPr>
            </a:pPr>
            <a:r>
              <a:rPr dirty="0"/>
              <a:t>vulnerability trends.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6309359" y="1965960"/>
            <a:ext cx="2468880" cy="274320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59" y="1965960"/>
            <a:ext cx="54864" cy="2743200"/>
          </a:xfrm>
          <a:prstGeom prst="rect">
            <a:avLst/>
          </a:prstGeom>
          <a:solidFill>
            <a:srgbClr val="3A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7" y="21031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8FC"/>
                </a:solidFill>
                <a:latin typeface="Aptos"/>
              </a:defRPr>
            </a:pPr>
            <a:r>
              <a:t>CI/CD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7" y="2532888"/>
            <a:ext cx="198220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2C1D2"/>
                </a:solidFill>
                <a:latin typeface="Aptos"/>
              </a:defRPr>
            </a:pPr>
            <a:r>
              <a:rPr dirty="0"/>
              <a:t>Integrate scanning into </a:t>
            </a:r>
            <a:endParaRPr lang="en-US" dirty="0"/>
          </a:p>
          <a:p>
            <a:pPr>
              <a:defRPr sz="1400">
                <a:solidFill>
                  <a:srgbClr val="B2C1D2"/>
                </a:solidFill>
                <a:latin typeface="Aptos"/>
              </a:defRPr>
            </a:pPr>
            <a:r>
              <a:rPr dirty="0"/>
              <a:t>CI/CD pipelines.</a:t>
            </a:r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9098280" y="1965960"/>
            <a:ext cx="2468880" cy="2743200"/>
          </a:xfrm>
          <a:prstGeom prst="roundRect">
            <a:avLst/>
          </a:prstGeom>
          <a:solidFill>
            <a:srgbClr val="0F2238"/>
          </a:solidFill>
          <a:ln>
            <a:solidFill>
              <a:srgbClr val="263F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1965960"/>
            <a:ext cx="54864" cy="2743200"/>
          </a:xfrm>
          <a:prstGeom prst="rect">
            <a:avLst/>
          </a:prstGeom>
          <a:solidFill>
            <a:srgbClr val="42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9448" y="210312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5F8FC"/>
                </a:solidFill>
                <a:latin typeface="Aptos"/>
              </a:defRPr>
            </a:pPr>
            <a:r>
              <a:t>AUTOMATION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9448" y="2532888"/>
            <a:ext cx="224285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2C1D2"/>
                </a:solidFill>
                <a:latin typeface="Aptos"/>
              </a:defRPr>
            </a:pPr>
            <a:r>
              <a:rPr dirty="0"/>
              <a:t>Automate parts of </a:t>
            </a:r>
            <a:endParaRPr lang="en-US" dirty="0"/>
          </a:p>
          <a:p>
            <a:pPr>
              <a:defRPr sz="1400">
                <a:solidFill>
                  <a:srgbClr val="B2C1D2"/>
                </a:solidFill>
                <a:latin typeface="Aptos"/>
              </a:defRPr>
            </a:pPr>
            <a:r>
              <a:rPr dirty="0"/>
              <a:t>remediation and reporting.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66212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rPr lang="en-IN" dirty="0"/>
              <a:t>Outputs : </a:t>
            </a:r>
            <a:endParaRPr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448" y="1220513"/>
            <a:ext cx="5827399" cy="394710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4483" y="2181139"/>
            <a:ext cx="5503177" cy="425321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595" y="872456"/>
            <a:ext cx="5939405" cy="418610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70745"/>
            <a:ext cx="5687985" cy="42951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2179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C"/>
                </a:solidFill>
                <a:latin typeface="Aptos Display"/>
              </a:defRPr>
            </a:pPr>
            <a:r>
              <a:rPr dirty="0"/>
              <a:t>Conclusion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12648" y="1207008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2C1D2"/>
                </a:solidFill>
                <a:latin typeface="Aptos"/>
              </a:defRPr>
            </a:pPr>
            <a:r>
              <a:t>A continuous security workflow for cloud workloads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57400"/>
            <a:ext cx="1828800" cy="384048"/>
          </a:xfrm>
          <a:prstGeom prst="roundRect">
            <a:avLst/>
          </a:prstGeom>
          <a:solidFill>
            <a:srgbClr val="25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91626"/>
                </a:solidFill>
                <a:latin typeface="Aptos"/>
              </a:defRPr>
            </a:pPr>
            <a:r>
              <a:t>DETECT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51760" y="2249424"/>
            <a:ext cx="457200" cy="0"/>
          </a:xfrm>
          <a:prstGeom prst="line">
            <a:avLst/>
          </a:prstGeom>
          <a:ln w="25400">
            <a:solidFill>
              <a:srgbClr val="25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246120" y="2057400"/>
            <a:ext cx="1828800" cy="384048"/>
          </a:xfrm>
          <a:prstGeom prst="roundRect">
            <a:avLst/>
          </a:prstGeom>
          <a:solidFill>
            <a:srgbClr val="3A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91626"/>
                </a:solidFill>
                <a:latin typeface="Aptos"/>
              </a:defRPr>
            </a:pPr>
            <a:r>
              <a:t>ANALYZE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74920" y="2249424"/>
            <a:ext cx="457200" cy="0"/>
          </a:xfrm>
          <a:prstGeom prst="line">
            <a:avLst/>
          </a:prstGeom>
          <a:ln w="25400">
            <a:solidFill>
              <a:srgbClr val="25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669280" y="2057400"/>
            <a:ext cx="1828800" cy="384048"/>
          </a:xfrm>
          <a:prstGeom prst="roundRect">
            <a:avLst/>
          </a:prstGeom>
          <a:solidFill>
            <a:srgbClr val="42B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91626"/>
                </a:solidFill>
                <a:latin typeface="Aptos"/>
              </a:defRPr>
            </a:pPr>
            <a:r>
              <a:t>FIX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98079" y="2249424"/>
            <a:ext cx="457200" cy="0"/>
          </a:xfrm>
          <a:prstGeom prst="line">
            <a:avLst/>
          </a:prstGeom>
          <a:ln w="25400">
            <a:solidFill>
              <a:srgbClr val="25BE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92440" y="2057400"/>
            <a:ext cx="1828800" cy="384048"/>
          </a:xfrm>
          <a:prstGeom prst="roundRect">
            <a:avLst/>
          </a:prstGeom>
          <a:solidFill>
            <a:srgbClr val="8B7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91626"/>
                </a:solidFill>
                <a:latin typeface="Aptos"/>
              </a:defRPr>
            </a:pPr>
            <a:r>
              <a:t>RESCAN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154680"/>
            <a:ext cx="99669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Amazon Inspector helps identify known vulnerabilities in cloud workloads.</a:t>
            </a:r>
          </a:p>
          <a:p>
            <a:pPr>
              <a:spcAft>
                <a:spcPts val="10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Our project demonstrates scanning of EC2 instances and ECR container images.</a:t>
            </a:r>
          </a:p>
          <a:p>
            <a:pPr>
              <a:spcAft>
                <a:spcPts val="10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The complete approach is Detect → Analyze → Fix → Rescan.</a:t>
            </a:r>
          </a:p>
          <a:p>
            <a:pPr>
              <a:spcAft>
                <a:spcPts val="10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t>• This helps maintain a safer and more secure AWS environment.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0</TotalTime>
  <Words>4518</Words>
  <Application>WPS Presentation</Application>
  <PresentationFormat>Widescreen</PresentationFormat>
  <Paragraphs>317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9" baseType="lpstr">
      <vt:lpstr>Arial</vt:lpstr>
      <vt:lpstr>SimSun</vt:lpstr>
      <vt:lpstr>Wingdings</vt:lpstr>
      <vt:lpstr>Aptos Display</vt:lpstr>
      <vt:lpstr>Segoe UI Variable Display</vt:lpstr>
      <vt:lpstr>Aptos</vt:lpstr>
      <vt:lpstr>Neue Haas Grotesk Text Pro</vt:lpstr>
      <vt:lpstr>Segoe Print</vt:lpstr>
      <vt:lpstr>Segoe UI</vt:lpstr>
      <vt:lpstr>Microsoft YaHei</vt:lpstr>
      <vt:lpstr>Arial Unicode MS</vt:lpstr>
      <vt:lpstr>Calibri</vt:lpstr>
      <vt:lpstr>Film Burn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keerthi12</dc:creator>
  <dc:description>generated using python-pptx</dc:description>
  <cp:lastModifiedBy>Vaibhavi Nanduri</cp:lastModifiedBy>
  <cp:revision>4</cp:revision>
  <dcterms:created xsi:type="dcterms:W3CDTF">2013-01-27T09:14:00Z</dcterms:created>
  <dcterms:modified xsi:type="dcterms:W3CDTF">2026-10-03T20:38:35Z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AD71AC6E66A740F9996D030DAE81F9E3_13</vt:lpwstr>
  </property>
  <property fmtid="{D5CDD505-2E9C-101B-9397-08002B2CF9AE}" pid="3" name="KSOProductBuildVer">
    <vt:lpwstr>1033-12.1.0.28485</vt:lpwstr>
  </property>
</Properties>
</file>